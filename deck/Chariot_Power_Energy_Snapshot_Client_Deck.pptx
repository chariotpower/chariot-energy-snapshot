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a15f1e70934092" Type="http://schemas.openxmlformats.org/officeDocument/2006/relationships/extended-properties" Target="docProps/app.xml"/><Relationship Id="R63eaa08f5dc3451a" Type="http://schemas.openxmlformats.org/package/2006/relationships/metadata/core-properties" Target="docProps/core.xml"/><Relationship Id="R645302e9a7514d7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cc618ebda407f"/>
  </p:sldMasterIdLst>
  <p:notesMasterIdLst>
    <p:notesMasterId xmlns:r="http://schemas.openxmlformats.org/officeDocument/2006/relationships" r:id="R26f7e369d5db43d4"/>
  </p:notesMasterIdLst>
  <p:sldIdLst>
    <p:sldId xmlns:r="http://schemas.openxmlformats.org/officeDocument/2006/relationships" id="256" r:id="R643c6d35a37d433a"/>
    <p:sldId xmlns:r="http://schemas.openxmlformats.org/officeDocument/2006/relationships" id="257" r:id="Rf7e62452c9e543a8"/>
    <p:sldId xmlns:r="http://schemas.openxmlformats.org/officeDocument/2006/relationships" id="258" r:id="Rfc68236d9eb0454e"/>
    <p:sldId xmlns:r="http://schemas.openxmlformats.org/officeDocument/2006/relationships" id="259" r:id="R8e1e5bbe4b68491b"/>
    <p:sldId xmlns:r="http://schemas.openxmlformats.org/officeDocument/2006/relationships" id="260" r:id="R576542778a044a1a"/>
    <p:sldId xmlns:r="http://schemas.openxmlformats.org/officeDocument/2006/relationships" id="261" r:id="Rb908e4bea6524c22"/>
    <p:sldId xmlns:r="http://schemas.openxmlformats.org/officeDocument/2006/relationships" id="262" r:id="R27ba2fc2307142b1"/>
    <p:sldId xmlns:r="http://schemas.openxmlformats.org/officeDocument/2006/relationships" id="263" r:id="R300b7fea2e5c469a"/>
    <p:sldId xmlns:r="http://schemas.openxmlformats.org/officeDocument/2006/relationships" id="264" r:id="R361cab3c482e44e8"/>
    <p:sldId xmlns:r="http://schemas.openxmlformats.org/officeDocument/2006/relationships" id="265" r:id="Ra37d514c35c1422a"/>
    <p:sldId xmlns:r="http://schemas.openxmlformats.org/officeDocument/2006/relationships" id="266" r:id="R8aa0730ad77f4607"/>
    <p:sldId xmlns:r="http://schemas.openxmlformats.org/officeDocument/2006/relationships" id="267" r:id="Rf04c258ef2f649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25cc618ebda407f" Type="http://schemas.openxmlformats.org/officeDocument/2006/relationships/slideMaster" Target="slideMasters/slideMaster1.xml"/><Relationship Id="R26f7e369d5db43d4" Type="http://schemas.openxmlformats.org/officeDocument/2006/relationships/notesMaster" Target="notesMasters/notesMaster1.xml"/><Relationship Id="R27ba2fc2307142b1" Type="http://schemas.openxmlformats.org/officeDocument/2006/relationships/slide" Target="slides/slide7.xml"/><Relationship Id="R300b7fea2e5c469a" Type="http://schemas.openxmlformats.org/officeDocument/2006/relationships/slide" Target="slides/slide8.xml"/><Relationship Id="R361cab3c482e44e8" Type="http://schemas.openxmlformats.org/officeDocument/2006/relationships/slide" Target="slides/slide9.xml"/><Relationship Id="R576542778a044a1a" Type="http://schemas.openxmlformats.org/officeDocument/2006/relationships/slide" Target="slides/slide5.xml"/><Relationship Id="R643c6d35a37d433a" Type="http://schemas.openxmlformats.org/officeDocument/2006/relationships/slide" Target="slides/slide1.xml"/><Relationship Id="R7b704b4765184e04" Type="http://schemas.openxmlformats.org/officeDocument/2006/relationships/theme" Target="theme/theme1.xml"/><Relationship Id="R8aa0730ad77f4607" Type="http://schemas.openxmlformats.org/officeDocument/2006/relationships/slide" Target="slides/slide11.xml"/><Relationship Id="R8e1e5bbe4b68491b" Type="http://schemas.openxmlformats.org/officeDocument/2006/relationships/slide" Target="slides/slide4.xml"/><Relationship Id="Ra37d514c35c1422a" Type="http://schemas.openxmlformats.org/officeDocument/2006/relationships/slide" Target="slides/slide10.xml"/><Relationship Id="Rb908e4bea6524c22" Type="http://schemas.openxmlformats.org/officeDocument/2006/relationships/slide" Target="slides/slide6.xml"/><Relationship Id="Rb911f68f9c40449e" Type="http://schemas.openxmlformats.org/officeDocument/2006/relationships/tableStyles" Target="tableStyles.xml"/><Relationship Id="Rc5db3c6406ea4b7d" Type="http://schemas.openxmlformats.org/officeDocument/2006/relationships/presProps" Target="presProps.xml"/><Relationship Id="Rf04c258ef2f649da" Type="http://schemas.openxmlformats.org/officeDocument/2006/relationships/slide" Target="slides/slide12.xml"/><Relationship Id="Rf7e62452c9e543a8" Type="http://schemas.openxmlformats.org/officeDocument/2006/relationships/slide" Target="slides/slide2.xml"/><Relationship Id="Rfc68236d9eb0454e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1a5a338b69c4455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715718989464b19" Type="http://schemas.openxmlformats.org/officeDocument/2006/relationships/slide" Target="../slides/slide1.xml"/><Relationship Id="Rfdc96fd4c5d049d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47a29784c6f4bfe" Type="http://schemas.openxmlformats.org/officeDocument/2006/relationships/slide" Target="../slides/slide2.xml"/><Relationship Id="R5e2dfbb181bb48f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9f173a367b34062" Type="http://schemas.openxmlformats.org/officeDocument/2006/relationships/slide" Target="../slides/slide3.xml"/><Relationship Id="Rc1e091e2ee4843e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61d21d15ee147f9" Type="http://schemas.openxmlformats.org/officeDocument/2006/relationships/notesMaster" Target="../notesMasters/notesMaster1.xml"/><Relationship Id="R42a25737836147b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56c58e8bb9443ce" Type="http://schemas.openxmlformats.org/officeDocument/2006/relationships/notesMaster" Target="../notesMasters/notesMaster1.xml"/><Relationship Id="Rd9eb2225933549b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7a1f29df97e446c" Type="http://schemas.openxmlformats.org/officeDocument/2006/relationships/slide" Target="../slides/slide6.xml"/><Relationship Id="R5ce16993ed884a1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ee15c2981d147e6" Type="http://schemas.openxmlformats.org/officeDocument/2006/relationships/notesMaster" Target="../notesMasters/notesMaster1.xml"/><Relationship Id="Raca859c9b433459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d0d4ddb4051452f" Type="http://schemas.openxmlformats.org/officeDocument/2006/relationships/notesMaster" Target="../notesMasters/notesMaster1.xml"/><Relationship Id="Rf114168d90e2484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3fa9c4aff5b4ac0" Type="http://schemas.openxmlformats.org/officeDocument/2006/relationships/slide" Target="../slides/slide9.xml"/><Relationship Id="R6c07f018865342e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39f3942f1444a6d" Type="http://schemas.openxmlformats.org/officeDocument/2006/relationships/slide" Target="../slides/slide10.xml"/><Relationship Id="R4e0d285f73a5444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1981758cb894250" Type="http://schemas.openxmlformats.org/officeDocument/2006/relationships/slide" Target="../slides/slide11.xml"/><Relationship Id="Rf0f4a051afd041f6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0c94460a4e541f1" Type="http://schemas.openxmlformats.org/officeDocument/2006/relationships/slide" Target="../slides/slide12.xml"/><Relationship Id="Rbeb5d46b9e5b454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ChariotPower - Commercial Deck.pdf.</a:t>
            </a:r>
          </a:p>
          <a:p xmlns:a="http://schemas.openxmlformats.org/drawingml/2006/main">
            <a:r>
              <a:t>- Chariot Power website: https://chariotpower.co.za/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Pain-point framing derived from the supplied Chariot commercial proposition and official South African bank renewable-energy finance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Sector imagery and sector descriptions from the user-supplied Chariot commercial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categories derived from the supplied Chariot commercial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ChariotPower - Commercial Deck.pdf, financing slides.</a:t>
            </a:r>
          </a:p>
          <a:p xmlns:a="http://schemas.openxmlformats.org/drawingml/2006/main">
            <a:r>
              <a:t>- Absa business solar finance: https://www.absa.co.za/business/sector-solutions/renewable-energy/solar-energy/</a:t>
            </a:r>
          </a:p>
          <a:p xmlns:a="http://schemas.openxmlformats.org/drawingml/2006/main">
            <a:r>
              <a:t>- FNB Alternative Energy Solutions: https://www.fnb.co.za/business-banking/industry-expertise/alternative-energy-solutions/index.html</a:t>
            </a:r>
          </a:p>
          <a:p xmlns:a="http://schemas.openxmlformats.org/drawingml/2006/main">
            <a:r>
              <a:t>- Nedbank renewable-energy asset finance: https://cib.nedbank.co.za/insights/articles/asset-based-finance.html</a:t>
            </a:r>
          </a:p>
          <a:p xmlns:a="http://schemas.openxmlformats.org/drawingml/2006/main">
            <a:r>
              <a:t>- Standard Bank Business Solar Financing: https://www.standardbank.co.za/southafrica/business/products-and-services/borrow-for-your-needs/business-loans/business_solar_financing</a:t>
            </a:r>
          </a:p>
          <a:p xmlns:a="http://schemas.openxmlformats.org/drawingml/2006/main">
            <a:r>
              <a:t>- All funding routes are indicative and subject to technical, credit, legal, commercial and funder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Energy Snapshot concept developed from the user-approved Chariot sales workflow.</a:t>
            </a:r>
          </a:p>
          <a:p xmlns:a="http://schemas.openxmlformats.org/drawingml/2006/main">
            <a:r>
              <a:t>- Snapshot outputs are indicative and require validation before proposal or investment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ChariotPower - Commercial Deck.pdf, execution process.</a:t>
            </a:r>
          </a:p>
          <a:p xmlns:a="http://schemas.openxmlformats.org/drawingml/2006/main">
            <a:r>
              <a:t>- Final contracting roles and responsibilities are confirmed for each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Technology images and product references supplied in the Chariot commercial deck.</a:t>
            </a:r>
          </a:p>
          <a:p xmlns:a="http://schemas.openxmlformats.org/drawingml/2006/main">
            <a:r>
              <a:t>- Final products and specifications are project dependent.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ChariotPower - Commercial Deck.pdf, selected experience.</a:t>
            </a:r>
          </a:p>
          <a:p xmlns:a="http://schemas.openxmlformats.org/drawingml/2006/main">
            <a:r>
              <a:t>- Project role, completion status, client permission and reference availability must be confirmed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indexed chart; not a customer quote or forecast. Actual outputs must be calculated from the client’s bills, tariff, load profile, system proposal and finance terms.</a:t>
            </a:r>
          </a:p>
          <a:p xmlns:a="http://schemas.openxmlformats.org/drawingml/2006/main">
            <a:r>
              <a:t>- Official product categories verified from Absa, FNB, Nedbank and Standard Bank business solar-finance pages accessed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and positioning information supplied in the user-approved Chariot deck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Chariot Energy Snapshot: https://chariot-energy-snapshot.kwoodroffe22.chatgpt.site</a:t>
            </a:r>
          </a:p>
          <a:p xmlns:a="http://schemas.openxmlformats.org/drawingml/2006/main">
            <a:r>
              <a:t>- Chariot Power website: https://chariotpower.co.za/</a:t>
            </a:r>
          </a:p>
          <a:p xmlns:a="http://schemas.openxmlformats.org/drawingml/2006/main">
            <a:r>
              <a:t>- Contact number supplied in the Chariot Power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4230e41a192492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3d62c7002df4d11" Type="http://schemas.openxmlformats.org/officeDocument/2006/relationships/theme" Target="theme/theme2.xml"/><Relationship Id="R5f98317ebfdb4a8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98317ebfdb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7a547029d74968" Type="http://schemas.openxmlformats.org/officeDocument/2006/relationships/hyperlink" Target="https://chariot-energy-snapshot.kwoodroffe22.chatgpt.site" TargetMode="External"/><Relationship Id="R33e02dc3a6e74f12" Type="http://schemas.openxmlformats.org/officeDocument/2006/relationships/image" Target="../media/image.jpeg"/><Relationship Id="R445bdfe595694b0b" Type="http://schemas.openxmlformats.org/officeDocument/2006/relationships/notesSlide" Target="../notesSlides/notesSlide1.xml"/><Relationship Id="R7d7906c6e1f745d9" Type="http://schemas.openxmlformats.org/officeDocument/2006/relationships/slideLayout" Target="../slideLayouts/slideLayout1.xml"/><Relationship Id="rId5" Type="http://schemas.openxmlformats.org/officeDocument/2006/relationships/hyperlink" Target="https://chariotpower.github.io/chariot-energy-snapshot/" TargetMode="External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50740be967e94b79" Type="http://schemas.openxmlformats.org/officeDocument/2006/relationships/image" Target="../media/image2.jpeg"/><Relationship Id="R6cca83872bda4fda" Type="http://schemas.openxmlformats.org/officeDocument/2006/relationships/notesSlide" Target="../notesSlides/notesSlide2.xml"/><Relationship Id="Rc88d54789a0745c7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38ab4dfafed1406b" Type="http://schemas.openxmlformats.org/officeDocument/2006/relationships/image" Target="../media/image3.jpeg"/><Relationship Id="R4e326ca50629452d" Type="http://schemas.openxmlformats.org/officeDocument/2006/relationships/image" Target="../media/image5.jpeg"/><Relationship Id="R5862ad1e568f4238" Type="http://schemas.openxmlformats.org/officeDocument/2006/relationships/slideLayout" Target="../slideLayouts/slideLayout1.xml"/><Relationship Id="R5c087c70ec984b5d" Type="http://schemas.openxmlformats.org/officeDocument/2006/relationships/image" Target="../media/image6.jpeg"/><Relationship Id="Rbdd66199bb694529" Type="http://schemas.openxmlformats.org/officeDocument/2006/relationships/notesSlide" Target="../notesSlides/notesSlide3.xml"/><Relationship Id="Re6492c50460440dc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98789843cfb64da6" Type="http://schemas.openxmlformats.org/officeDocument/2006/relationships/image" Target="../media/image7.jpeg"/><Relationship Id="Rd73bd497bb274963" Type="http://schemas.openxmlformats.org/officeDocument/2006/relationships/notesSlide" Target="../notesSlides/notesSlide4.xml"/><Relationship Id="Rda150bd0b3bf4d82" Type="http://schemas.openxmlformats.org/officeDocument/2006/relationships/slideLayout" Target="../slideLayouts/slideLayout1.xml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5.xml.rels><?xml version='1.0' encoding='UTF-8' standalone='yes'?>
<Relationships xmlns="http://schemas.openxmlformats.org/package/2006/relationships"><Relationship Id="R10a928c5e1cd43da" Type="http://schemas.openxmlformats.org/officeDocument/2006/relationships/slideLayout" Target="../slideLayouts/slideLayout1.xml"/><Relationship Id="R3118bbd77a184ffd" Type="http://schemas.openxmlformats.org/officeDocument/2006/relationships/image" Target="../media/image8.jpeg"/><Relationship Id="Rfdc4e4c5babf4543" Type="http://schemas.openxmlformats.org/officeDocument/2006/relationships/notesSlide" Target="../notesSlides/notesSlide5.xml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943e956a3e6e40f4" Type="http://schemas.openxmlformats.org/officeDocument/2006/relationships/notesSlide" Target="../notesSlides/notesSlide6.xml"/><Relationship Id="Rfe9656d04fad4f98" Type="http://schemas.openxmlformats.org/officeDocument/2006/relationships/image" Target="../media/image9.jpeg"/><Relationship Id="Rff328c7c865f41cb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hyperlink" Target="https://chariotpower.github.io/chariot-energy-snapshot/" TargetMode="External"/></Relationships>
</file>

<file path=ppt/slides/_rels/slide7.xml.rels><?xml version='1.0' encoding='UTF-8' standalone='yes'?>
<Relationships xmlns="http://schemas.openxmlformats.org/package/2006/relationships"><Relationship Id="R15800a316de94ce6" Type="http://schemas.openxmlformats.org/officeDocument/2006/relationships/slideLayout" Target="../slideLayouts/slideLayout1.xml"/><Relationship Id="Rad3f48f985ee4259" Type="http://schemas.openxmlformats.org/officeDocument/2006/relationships/image" Target="../media/image10.jpeg"/><Relationship Id="Rae682214c3cc472c" Type="http://schemas.openxmlformats.org/officeDocument/2006/relationships/image" Target="../media/image11.jpeg"/><Relationship Id="Rfc6c9f47e1854ae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1747ed27e724d3d" Type="http://schemas.openxmlformats.org/officeDocument/2006/relationships/image" Target="../media/image13.jpeg"/><Relationship Id="R0fbc0865826849f2" Type="http://schemas.openxmlformats.org/officeDocument/2006/relationships/image" Target="../media/image14.jpeg"/><Relationship Id="R2b83470192084c97" Type="http://schemas.openxmlformats.org/officeDocument/2006/relationships/image" Target="../media/image12.jpeg"/><Relationship Id="R2f8c03061c1c44a7" Type="http://schemas.openxmlformats.org/officeDocument/2006/relationships/slideLayout" Target="../slideLayouts/slideLayout1.xml"/><Relationship Id="Rc5f3ca0c93504438" Type="http://schemas.openxmlformats.org/officeDocument/2006/relationships/image" Target="../media/image15.jpeg"/><Relationship Id="Reea5cf21bbf2452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4d7a56fdca44aa2" Type="http://schemas.openxmlformats.org/officeDocument/2006/relationships/image" Target="../media/image16.jpeg"/><Relationship Id="R2e6e64ade0214c97" Type="http://schemas.openxmlformats.org/officeDocument/2006/relationships/image" Target="../media/image20.jpeg"/><Relationship Id="R3c325d9e444e4a5a" Type="http://schemas.openxmlformats.org/officeDocument/2006/relationships/notesSlide" Target="../notesSlides/notesSlide9.xml"/><Relationship Id="R66afb79de0d94433" Type="http://schemas.openxmlformats.org/officeDocument/2006/relationships/image" Target="../media/image19.jpeg"/><Relationship Id="Rb884c779babf4981" Type="http://schemas.openxmlformats.org/officeDocument/2006/relationships/image" Target="../media/image17.jpeg"/><Relationship Id="Rc68c3def56d84b4d" Type="http://schemas.openxmlformats.org/officeDocument/2006/relationships/slideLayout" Target="../slideLayouts/slideLayout1.xml"/><Relationship Id="Rf3d7fb38f6b344df" Type="http://schemas.openxmlformats.org/officeDocument/2006/relationships/image" Target="../media/image18.jpeg"/></Relationships>
</file>

<file path=ppt/slides/_rels/slide10.xml.rels><?xml version='1.0' encoding='UTF-8' standalone='yes'?>
<Relationships xmlns="http://schemas.openxmlformats.org/package/2006/relationships"><Relationship Id="R9173ee4f0ee74027" Type="http://schemas.openxmlformats.org/officeDocument/2006/relationships/image" Target="../media/image21.jpeg"/><Relationship Id="Rafac05fd98264341" Type="http://schemas.openxmlformats.org/officeDocument/2006/relationships/slideLayout" Target="../slideLayouts/slideLayout1.xml"/><Relationship Id="Rb0372365f3bc4c7e" Type="http://schemas.openxmlformats.org/officeDocument/2006/relationships/chart" Target="charts/chart1.xml"/><Relationship Id="Rb845afb3823446b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3f1ea033c5342ff" Type="http://schemas.openxmlformats.org/officeDocument/2006/relationships/notesSlide" Target="../notesSlides/notesSlide11.xml"/><Relationship Id="R4993f7f67ecd48f8" Type="http://schemas.openxmlformats.org/officeDocument/2006/relationships/image" Target="../media/image22.jpeg"/><Relationship Id="R6ddaca5f830f4d2a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25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53431a37c46f4aea" Type="http://schemas.openxmlformats.org/officeDocument/2006/relationships/hyperlink" Target="https://chariot-energy-snapshot.kwoodroffe22.chatgpt.site" TargetMode="External"/><Relationship Id="R88f661da869440f9" Type="http://schemas.openxmlformats.org/officeDocument/2006/relationships/slideLayout" Target="../slideLayouts/slideLayout1.xml"/><Relationship Id="R98c48bbd5cc349ce" Type="http://schemas.openxmlformats.org/officeDocument/2006/relationships/notesSlide" Target="../notesSlides/notesSlide12.xml"/><Relationship Id="Rbd6999a13c3040ce" Type="http://schemas.openxmlformats.org/officeDocument/2006/relationships/image" Target="../media/image23.jpeg"/><Relationship Id="rId5" Type="http://schemas.openxmlformats.org/officeDocument/2006/relationships/hyperlink" Target="https://chariotpower.github.io/chariot-energy-snapshot/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4.png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Grid only</c:v>
          </c:tx>
          <c:spPr>
            <a:ln xmlns:a="http://schemas.openxmlformats.org/drawingml/2006/main" w="38100">
              <a:solidFill>
                <a:srgbClr val="111111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Today</c:v>
              </c:pt>
              <c:pt idx="1">
                <c:v>Year 1</c:v>
              </c:pt>
              <c:pt idx="2">
                <c:v>Year 3</c:v>
              </c:pt>
              <c:pt idx="3">
                <c:v>Year 5</c:v>
              </c:pt>
              <c:pt idx="4">
                <c:v>Year 10</c:v>
              </c:pt>
              <c:pt idx="5">
                <c:v>Year 20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108</c:v>
              </c:pt>
              <c:pt idx="2">
                <c:v>126</c:v>
              </c:pt>
              <c:pt idx="3">
                <c:v>147</c:v>
              </c:pt>
              <c:pt idx="4">
                <c:v>216</c:v>
              </c:pt>
              <c:pt idx="5">
                <c:v>466</c:v>
              </c:pt>
            </c:numLit>
          </c:val>
        </c:ser>
        <c:ser>
          <c:idx val="1"/>
          <c:order val="1"/>
          <c:tx>
            <c:v>Cash purchase</c:v>
          </c:tx>
          <c:spPr>
            <a:ln xmlns:a="http://schemas.openxmlformats.org/drawingml/2006/main" w="28575">
              <a:solidFill>
                <a:srgbClr val="C2A05A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Today</c:v>
              </c:pt>
              <c:pt idx="1">
                <c:v>Year 1</c:v>
              </c:pt>
              <c:pt idx="2">
                <c:v>Year 3</c:v>
              </c:pt>
              <c:pt idx="3">
                <c:v>Year 5</c:v>
              </c:pt>
              <c:pt idx="4">
                <c:v>Year 10</c:v>
              </c:pt>
              <c:pt idx="5">
                <c:v>Year 20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52</c:v>
              </c:pt>
              <c:pt idx="2">
                <c:v>50</c:v>
              </c:pt>
              <c:pt idx="3">
                <c:v>48</c:v>
              </c:pt>
              <c:pt idx="4">
                <c:v>45</c:v>
              </c:pt>
              <c:pt idx="5">
                <c:v>42</c:v>
              </c:pt>
            </c:numLit>
          </c:val>
        </c:ser>
        <c:ser>
          <c:idx val="2"/>
          <c:order val="2"/>
          <c:tx>
            <c:v>Bank-funded purchase</c:v>
          </c:tx>
          <c:spPr>
            <a:ln xmlns:a="http://schemas.openxmlformats.org/drawingml/2006/main" w="28575">
              <a:solidFill>
                <a:srgbClr val="80868A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Today</c:v>
              </c:pt>
              <c:pt idx="1">
                <c:v>Year 1</c:v>
              </c:pt>
              <c:pt idx="2">
                <c:v>Year 3</c:v>
              </c:pt>
              <c:pt idx="3">
                <c:v>Year 5</c:v>
              </c:pt>
              <c:pt idx="4">
                <c:v>Year 10</c:v>
              </c:pt>
              <c:pt idx="5">
                <c:v>Year 20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104</c:v>
              </c:pt>
              <c:pt idx="2">
                <c:v>110</c:v>
              </c:pt>
              <c:pt idx="3">
                <c:v>116</c:v>
              </c:pt>
              <c:pt idx="4">
                <c:v>86</c:v>
              </c:pt>
              <c:pt idx="5">
                <c:v>76</c:v>
              </c:pt>
            </c:numLit>
          </c:val>
        </c:ser>
        <c:ser>
          <c:idx val="3"/>
          <c:order val="3"/>
          <c:tx>
            <c:v>Rent-to-own</c:v>
          </c:tx>
          <c:spPr>
            <a:ln xmlns:a="http://schemas.openxmlformats.org/drawingml/2006/main" w="28575">
              <a:solidFill>
                <a:srgbClr val="00586A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Today</c:v>
              </c:pt>
              <c:pt idx="1">
                <c:v>Year 1</c:v>
              </c:pt>
              <c:pt idx="2">
                <c:v>Year 3</c:v>
              </c:pt>
              <c:pt idx="3">
                <c:v>Year 5</c:v>
              </c:pt>
              <c:pt idx="4">
                <c:v>Year 10</c:v>
              </c:pt>
              <c:pt idx="5">
                <c:v>Year 20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96</c:v>
              </c:pt>
              <c:pt idx="2">
                <c:v>91</c:v>
              </c:pt>
              <c:pt idx="3">
                <c:v>87</c:v>
              </c:pt>
              <c:pt idx="4">
                <c:v>66</c:v>
              </c:pt>
              <c:pt idx="5">
                <c:v>54</c:v>
              </c:pt>
            </c:numLit>
          </c:val>
        </c:ser>
        <c:ser>
          <c:idx val="4"/>
          <c:order val="4"/>
          <c:tx>
            <c:v>PPA</c:v>
          </c:tx>
          <c:spPr>
            <a:ln xmlns:a="http://schemas.openxmlformats.org/drawingml/2006/main" w="38100">
              <a:solidFill>
                <a:srgbClr val="00A9D6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Today</c:v>
              </c:pt>
              <c:pt idx="1">
                <c:v>Year 1</c:v>
              </c:pt>
              <c:pt idx="2">
                <c:v>Year 3</c:v>
              </c:pt>
              <c:pt idx="3">
                <c:v>Year 5</c:v>
              </c:pt>
              <c:pt idx="4">
                <c:v>Year 10</c:v>
              </c:pt>
              <c:pt idx="5">
                <c:v>Year 20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84</c:v>
              </c:pt>
              <c:pt idx="2">
                <c:v>80</c:v>
              </c:pt>
              <c:pt idx="3">
                <c:v>77</c:v>
              </c:pt>
              <c:pt idx="4">
                <c:v>70</c:v>
              </c:pt>
              <c:pt idx="5">
                <c:v>64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7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Illustrative monthly energy-cost index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76B"/>
                </a:solidFill>
              </a:defRPr>
            </a:pPr>
          </a:p>
        </c:txPr>
        <c:crossAx val="48650112"/>
        <c:crossBetween val="between"/>
        <c:majorUnit val="1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53A3D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02dc3a6e74f12"/>
          <a:srcRect xmlns:a="http://schemas.openxmlformats.org/drawingml/2006/main" l="28817" t="0" r="288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34A98-9F62-46BC-BB9A-F9B68C1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9E4F-AF96-4A5E-8FDC-19A73F8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5810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YOUR ENERGY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INFRASTRUCTURE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SHOULD PROTECT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YOUR BUSINESS.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9C7F1-C745-4BE0-AC5E-A00F1199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Not compete with it for capital.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3FA30-4F3C-4250-9817-F57B36E3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42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Lower energy cost, stronger resilience and the right funding route—built around your actual operation.</a:t>
            </a:r>
          </a:p>
        </p:txBody>
      </p:sp>
      <p:sp>
        <p:nvSpPr>
          <p:cNvPr id="7" name="">
            <a:hlinkClick xmlns:a="http://schemas.openxmlformats.org/drawingml/2006/main" xmlns:ns0="http://schemas.openxmlformats.org/officeDocument/2006/relationships" ns0:id="rId5"/>
            <a:extLst xmlns:a="http://schemas.openxmlformats.org/drawingml/2006/main">
              <a:ext uri="{FF2B5EF4-FFF2-40B4-BE49-F238E27FC236}">
                <a16:creationId xmlns:a16="http://schemas.microsoft.com/office/drawing/2014/main" id="{5BD8EC72-E4BC-448E-AA0A-D405076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hlinkClick xmlns:a="http://schemas.openxmlformats.org/drawingml/2006/main" xmlns:ns1="http://schemas.openxmlformats.org/officeDocument/2006/relationships" ns1:id="rId5"/>
            <a:extLst xmlns:a="http://schemas.openxmlformats.org/drawingml/2006/main">
              <a:ext uri="{FF2B5EF4-FFF2-40B4-BE49-F238E27FC236}">
                <a16:creationId xmlns:a16="http://schemas.microsoft.com/office/drawing/2014/main" id="{F22DDB18-2681-4F8A-84E6-BAF92E0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START MY ENERGY SNAPSHOT 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6B0CC-7EC6-4D9F-BDEA-76EBE89C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No obligation • Practical options • Clear next step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Picture 10" descr="chariot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6700"/>
            <a:ext cx="685860" cy="36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64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0be967e94b79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27" name="TextBox 26"/>
          <p:cNvSpPr txBox="1"/>
          <p:nvPr/>
        </p:nvSpPr>
        <p:spPr>
          <a:xfrm>
            <a:off x="571500" y="266700"/>
            <a:ext cx="495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00A9D6"/>
                </a:solidFill>
                <a:latin typeface="Calibri"/>
              </a:rPr>
              <a:t>THE PRESSURE IS ALREADY INSIDE THE BUSINESS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571500" y="742950"/>
            <a:ext cx="8763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0">
                <a:solidFill>
                  <a:srgbClr val="00A9D6"/>
                </a:solidFill>
                <a:latin typeface="Times New Roman"/>
              </a:rPr>
              <a:t>YOUR ENERGY RISK IS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571500" y="1104900"/>
            <a:ext cx="876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111111"/>
                </a:solidFill>
                <a:latin typeface="Times New Roman"/>
              </a:rPr>
              <a:t>BIGGER THAN THE BILL.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571500" y="1924050"/>
            <a:ext cx="7905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2676B"/>
                </a:solidFill>
                <a:latin typeface="Calibri"/>
              </a:rPr>
              <a:t>The real cost appears in margins, downtime, diesel use and delayed investment.</a:t>
            </a:r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571500" y="2857500"/>
            <a:ext cx="2381250" cy="2486025"/>
          </a:xfrm>
          <a:prstGeom prst="roundRect">
            <a:avLst>
              <a:gd name="adj" fmla="val 45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2" name="Picture 31" descr="icon_trending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3117850"/>
            <a:ext cx="495300" cy="495300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571500" y="3765550"/>
            <a:ext cx="2381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RISING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TARIFFS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762000" y="4516350"/>
            <a:ext cx="2000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Operating costs climb while margins tighten.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3314700" y="2857500"/>
            <a:ext cx="2381250" cy="2486025"/>
          </a:xfrm>
          <a:prstGeom prst="roundRect">
            <a:avLst>
              <a:gd name="adj" fmla="val 45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6" name="Picture 35" descr="icon_plug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3117850"/>
            <a:ext cx="495300" cy="495300"/>
          </a:xfrm>
          <a:prstGeom prst="rect">
            <a:avLst/>
          </a:prstGeom>
        </p:spPr>
      </p:pic>
      <p:sp xmlns:a="http://schemas.openxmlformats.org/drawingml/2006/main">
        <p:nvSpPr>
          <p:cNvPr id="37" name="TextBox 36"/>
          <p:cNvSpPr txBox="1"/>
          <p:nvPr/>
        </p:nvSpPr>
        <p:spPr>
          <a:xfrm>
            <a:off x="3314700" y="3765550"/>
            <a:ext cx="2381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UNPLANNED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DOWNTIME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3505200" y="4516350"/>
            <a:ext cx="2000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Production and service stop when power fails.</a:t>
            </a:r>
          </a:p>
        </p:txBody>
      </p:sp>
      <p:sp xmlns:a="http://schemas.openxmlformats.org/drawingml/2006/main">
        <p:nvSpPr>
          <p:cNvPr id="39" name="Rounded Rectangle 38"/>
          <p:cNvSpPr/>
          <p:nvPr/>
        </p:nvSpPr>
        <p:spPr>
          <a:xfrm>
            <a:off x="6057900" y="2857500"/>
            <a:ext cx="2381250" cy="2486025"/>
          </a:xfrm>
          <a:prstGeom prst="roundRect">
            <a:avLst>
              <a:gd name="adj" fmla="val 45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40" name="Picture 39" descr="icon_batter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75" y="3117850"/>
            <a:ext cx="495300" cy="495300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6057900" y="3765550"/>
            <a:ext cx="2381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EXPENSIVE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BACKUP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248400" y="4516350"/>
            <a:ext cx="2000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Diesel and emergency power protect uptime—at a price.</a:t>
            </a:r>
          </a:p>
        </p:txBody>
      </p:sp>
      <p:sp xmlns:a="http://schemas.openxmlformats.org/drawingml/2006/main">
        <p:nvSpPr>
          <p:cNvPr id="43" name="Rounded Rectangle 42"/>
          <p:cNvSpPr/>
          <p:nvPr/>
        </p:nvSpPr>
        <p:spPr>
          <a:xfrm>
            <a:off x="8801100" y="2857500"/>
            <a:ext cx="2381250" cy="2486025"/>
          </a:xfrm>
          <a:prstGeom prst="roundRect">
            <a:avLst>
              <a:gd name="adj" fmla="val 45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44" name="Picture 43" descr="icon_ba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4075" y="3117850"/>
            <a:ext cx="495300" cy="495300"/>
          </a:xfrm>
          <a:prstGeom prst="rect">
            <a:avLst/>
          </a:prstGeom>
        </p:spPr>
      </p:pic>
      <p:sp xmlns:a="http://schemas.openxmlformats.org/drawingml/2006/main">
        <p:nvSpPr>
          <p:cNvPr id="45" name="TextBox 44"/>
          <p:cNvSpPr txBox="1"/>
          <p:nvPr/>
        </p:nvSpPr>
        <p:spPr>
          <a:xfrm>
            <a:off x="8801100" y="3765550"/>
            <a:ext cx="2381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CAPITAL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PRESSURE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8991600" y="4516350"/>
            <a:ext cx="200025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Buying the wrong system can drain cash unnecessarily.</a:t>
            </a:r>
          </a:p>
        </p:txBody>
      </p:sp>
      <p:sp xmlns:a="http://schemas.openxmlformats.org/drawingml/2006/main">
        <p:nvSpPr>
          <p:cNvPr id="47" name="Rounded Rectangle 46"/>
          <p:cNvSpPr/>
          <p:nvPr/>
        </p:nvSpPr>
        <p:spPr>
          <a:xfrm>
            <a:off x="571500" y="5476875"/>
            <a:ext cx="10668000" cy="457200"/>
          </a:xfrm>
          <a:prstGeom prst="roundRect">
            <a:avLst>
              <a:gd name="adj" fmla="val 12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800100" y="5600700"/>
            <a:ext cx="10210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20">
                <a:solidFill>
                  <a:srgbClr val="FFFFFF"/>
                </a:solidFill>
                <a:latin typeface="Calibri"/>
              </a:rPr>
              <a:t>THE ANSWER IS NOT “MORE SOLAR”. IT IS THE RIGHT ENERGY AND FINANCE STRUCTURE.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571500" y="65151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50">
                <a:solidFill>
                  <a:srgbClr val="62676B"/>
                </a:solidFill>
                <a:latin typeface="Calibri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1825609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03A9C-D49E-4173-8236-0EDF8B93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BUILT FOR WORKING OPERATIONS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b4dfafed1406b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3D8B1-E63E-468F-9EE8-8D5CAB12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YOUR LOAD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204D4-FD03-4A29-93E0-DBF5182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DRIVES THE SOLUTION.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D1ABE-2682-416E-A091-160211F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Different operations use power differently. The design must reflect that.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92c50460440dc"/>
          <a:srcRect xmlns:a="http://schemas.openxmlformats.org/drawingml/2006/main" l="0" t="19495" r="0" b="19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7241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DCCA4-DE56-412C-9E28-6909EB59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FARMING &amp; AGRICULTURE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62348-7BFC-4317-8E9B-4CCAD2C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rPr>
              <a:t>Irrigation • cold rooms • packhouses • mills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E7E10-7951-4155-9707-C0600F7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Use daytime solar and protect essential loads.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26ca50629452d"/>
          <a:srcRect xmlns:a="http://schemas.openxmlformats.org/drawingml/2006/main" l="0" t="19709" r="0" b="19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27241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E37F5-009D-477D-A184-0468F54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38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2196F-2AB8-49A7-AD33-FFFD599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81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rPr>
              <a:t>Offices • retail • hospitality • portfolios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EC9A4-19A0-4D49-8232-546BFA2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6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Control operating costs across one or many sites.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87c70ec984b5d"/>
          <a:srcRect xmlns:a="http://schemas.openxmlformats.org/drawingml/2006/main" l="10556" t="0" r="10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27241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EC8F6-2BD9-4A27-8572-E1FB8A3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INDUSTRIAL &amp; MINING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5DFA5-D4D0-4585-B2FA-A66BF8AB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rPr>
              <a:t>Factories • processing • heavy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9CD44-376B-4613-A5AF-9DFD948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Support uptime, peak demand and critical production.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BA09B-1AEC-473A-8331-368949A7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385843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89843cfb64da6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25" name="TextBox 24"/>
          <p:cNvSpPr txBox="1"/>
          <p:nvPr/>
        </p:nvSpPr>
        <p:spPr>
          <a:xfrm>
            <a:off x="571500" y="266700"/>
            <a:ext cx="495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00A9D6"/>
                </a:solidFill>
                <a:latin typeface="Calibri"/>
              </a:rPr>
              <a:t>THE RIGHT SYSTEM FOR THE JOB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571500" y="742950"/>
            <a:ext cx="8763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0">
                <a:solidFill>
                  <a:srgbClr val="00A9D6"/>
                </a:solidFill>
                <a:latin typeface="Times New Roman"/>
              </a:rPr>
              <a:t>CHOOSE THE OUTCOME.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571500" y="1104900"/>
            <a:ext cx="876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111111"/>
                </a:solidFill>
                <a:latin typeface="Times New Roman"/>
              </a:rPr>
              <a:t>WE ENGINEER THE SYSTEM.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571500" y="1924050"/>
            <a:ext cx="7905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2676B"/>
                </a:solidFill>
                <a:latin typeface="Calibri"/>
              </a:rPr>
              <a:t>No technology theatre. The solution follows your operating priority.</a:t>
            </a:r>
          </a:p>
        </p:txBody>
      </p:sp>
      <p:pic xmlns:a="http://schemas.openxmlformats.org/drawingml/2006/main" xmlns:r="http://schemas.openxmlformats.org/officeDocument/2006/relationships">
        <p:nvPicPr>
          <p:cNvPr id="29" name="Picture 28" descr="tile_gridti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0"/>
            <a:ext cx="3333750" cy="2476500"/>
          </a:xfrm>
          <a:prstGeom prst="rect">
            <a:avLst/>
          </a:prstGeom>
        </p:spPr>
      </p:pic>
      <p:sp xmlns:a="http://schemas.openxmlformats.org/drawingml/2006/main">
        <p:nvSpPr>
          <p:cNvPr id="30" name="Rectangle 29"/>
          <p:cNvSpPr/>
          <p:nvPr/>
        </p:nvSpPr>
        <p:spPr>
          <a:xfrm>
            <a:off x="571500" y="4194810"/>
            <a:ext cx="3333750" cy="11391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2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71500" y="2857500"/>
            <a:ext cx="3333750" cy="2476500"/>
          </a:xfrm>
          <a:prstGeom prst="rect">
            <a:avLst/>
          </a:prstGeom>
          <a:noFill/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800100" y="41834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50">
                <a:solidFill>
                  <a:srgbClr val="00A9D6"/>
                </a:solidFill>
                <a:latin typeface="Calibri"/>
              </a:rPr>
              <a:t>GRID-TIED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800100" y="4384000"/>
            <a:ext cx="287655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SAVE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800100" y="4894000"/>
            <a:ext cx="287655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Best when cost reduction is the priority.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800100" y="51140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Solar reduces daytime grid purchases.</a:t>
            </a:r>
          </a:p>
        </p:txBody>
      </p:sp>
      <p:pic xmlns:a="http://schemas.openxmlformats.org/drawingml/2006/main" xmlns:r="http://schemas.openxmlformats.org/officeDocument/2006/relationships">
        <p:nvPicPr>
          <p:cNvPr id="36" name="Picture 35" descr="tile_hybr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2857500"/>
            <a:ext cx="3333750" cy="2476500"/>
          </a:xfrm>
          <a:prstGeom prst="rect">
            <a:avLst/>
          </a:prstGeom>
        </p:spPr>
      </p:pic>
      <p:sp xmlns:a="http://schemas.openxmlformats.org/drawingml/2006/main">
        <p:nvSpPr>
          <p:cNvPr id="37" name="Rectangle 36"/>
          <p:cNvSpPr/>
          <p:nvPr/>
        </p:nvSpPr>
        <p:spPr>
          <a:xfrm>
            <a:off x="4238625" y="4194810"/>
            <a:ext cx="3333750" cy="11391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2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4238625" y="2857500"/>
            <a:ext cx="3333750" cy="2476500"/>
          </a:xfrm>
          <a:prstGeom prst="rect">
            <a:avLst/>
          </a:prstGeom>
          <a:noFill/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4467225" y="41834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50">
                <a:solidFill>
                  <a:srgbClr val="00A9D6"/>
                </a:solidFill>
                <a:latin typeface="Calibri"/>
              </a:rPr>
              <a:t>HYBRID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4467225" y="4384000"/>
            <a:ext cx="287655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SAVE + PROTECT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4467225" y="4894000"/>
            <a:ext cx="287655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Best when outages disrupt the operation.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4467225" y="51140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Solar and storage support critical loads.</a:t>
            </a:r>
          </a:p>
        </p:txBody>
      </p:sp>
      <p:pic xmlns:a="http://schemas.openxmlformats.org/drawingml/2006/main" xmlns:r="http://schemas.openxmlformats.org/officeDocument/2006/relationships">
        <p:nvPicPr>
          <p:cNvPr id="43" name="Picture 42" descr="tile_offgr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0" y="2857500"/>
            <a:ext cx="3333750" cy="2476500"/>
          </a:xfrm>
          <a:prstGeom prst="rect">
            <a:avLst/>
          </a:prstGeom>
        </p:spPr>
      </p:pic>
      <p:sp xmlns:a="http://schemas.openxmlformats.org/drawingml/2006/main">
        <p:nvSpPr>
          <p:cNvPr id="44" name="Rectangle 43"/>
          <p:cNvSpPr/>
          <p:nvPr/>
        </p:nvSpPr>
        <p:spPr>
          <a:xfrm>
            <a:off x="7905750" y="4194810"/>
            <a:ext cx="3333750" cy="11391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2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7905750" y="2857500"/>
            <a:ext cx="3333750" cy="2476500"/>
          </a:xfrm>
          <a:prstGeom prst="rect">
            <a:avLst/>
          </a:prstGeom>
          <a:noFill/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8134350" y="41834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50">
                <a:solidFill>
                  <a:srgbClr val="00A9D6"/>
                </a:solidFill>
                <a:latin typeface="Calibri"/>
              </a:rPr>
              <a:t>OFF-GRID</a:t>
            </a:r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8134350" y="4384000"/>
            <a:ext cx="287655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OPERATE ANYWHERE</a:t>
            </a:r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8134350" y="4894000"/>
            <a:ext cx="287655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Best where grid supply is absent or unreliable.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8134350" y="5114000"/>
            <a:ext cx="2876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Generation, storage and controls work together.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1809750" y="5772150"/>
            <a:ext cx="8572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Every system remains subject to site, load, grid, technical and commercial assessment.</a:t>
            </a:r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571500" y="65151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50">
                <a:solidFill>
                  <a:srgbClr val="62676B"/>
                </a:solidFill>
                <a:latin typeface="Calibri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1430546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8bbd77a184ffd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25" name="TextBox 24"/>
          <p:cNvSpPr txBox="1"/>
          <p:nvPr/>
        </p:nvSpPr>
        <p:spPr>
          <a:xfrm>
            <a:off x="571500" y="266700"/>
            <a:ext cx="495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00A9D6"/>
                </a:solidFill>
                <a:latin typeface="Calibri"/>
              </a:rPr>
              <a:t>FUNDING THE RIGHT WAY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571500" y="742950"/>
            <a:ext cx="8763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0">
                <a:solidFill>
                  <a:srgbClr val="00A9D6"/>
                </a:solidFill>
                <a:latin typeface="Times New Roman"/>
              </a:rPr>
              <a:t>THE CHEAPEST RATE IS NOT ALWAYS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571500" y="1104900"/>
            <a:ext cx="876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111111"/>
                </a:solidFill>
                <a:latin typeface="Times New Roman"/>
              </a:rPr>
              <a:t>THE BEST ENERGY DEAL.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571500" y="1924050"/>
            <a:ext cx="7905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2676B"/>
                </a:solidFill>
                <a:latin typeface="Calibri"/>
              </a:rPr>
              <a:t>Compare cash required, monthly cost, ownership and long-term spend—not interest alone.</a:t>
            </a:r>
          </a:p>
        </p:txBody>
      </p:sp>
      <p:sp xmlns:a="http://schemas.openxmlformats.org/drawingml/2006/main">
        <p:nvSpPr>
          <p:cNvPr id="29" name="Rounded Rectangle 28"/>
          <p:cNvSpPr/>
          <p:nvPr/>
        </p:nvSpPr>
        <p:spPr>
          <a:xfrm>
            <a:off x="571500" y="2800350"/>
            <a:ext cx="10668000" cy="600075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ounded Rectangle 29"/>
          <p:cNvSpPr/>
          <p:nvPr/>
        </p:nvSpPr>
        <p:spPr>
          <a:xfrm>
            <a:off x="781050" y="2870387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1" name="Picture 30" descr="icon_dollarbad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50" y="2950387"/>
            <a:ext cx="300000" cy="300000"/>
          </a:xfrm>
          <a:prstGeom prst="rect">
            <a:avLst/>
          </a:prstGeom>
        </p:spPr>
      </p:pic>
      <p:sp xmlns:a="http://schemas.openxmlformats.org/drawingml/2006/main">
        <p:nvSpPr>
          <p:cNvPr id="32" name="TextBox 31"/>
          <p:cNvSpPr txBox="1"/>
          <p:nvPr/>
        </p:nvSpPr>
        <p:spPr>
          <a:xfrm>
            <a:off x="1341050" y="2950387"/>
            <a:ext cx="155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PPA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3143250" y="2918350"/>
            <a:ext cx="24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40">
                <a:solidFill>
                  <a:srgbClr val="111111"/>
                </a:solidFill>
                <a:latin typeface="Calibri"/>
              </a:rPr>
              <a:t>NO UPFRONT CASH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3143250" y="3062387"/>
            <a:ext cx="2470000" cy="156000"/>
          </a:xfrm>
          <a:prstGeom prst="roundRect">
            <a:avLst>
              <a:gd name="adj" fmla="val 50000"/>
            </a:avLst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3143250" y="3062387"/>
            <a:ext cx="74100" cy="156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5695950" y="2960387"/>
            <a:ext cx="24003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Pay only for the power you use.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8286750" y="2960387"/>
            <a:ext cx="26670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495A"/>
                </a:solidFill>
                <a:latin typeface="Calibri"/>
              </a:rPr>
              <a:t>Best for cash flow</a:t>
            </a:r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571500" y="3552825"/>
            <a:ext cx="10668000" cy="600075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ounded Rectangle 38"/>
          <p:cNvSpPr/>
          <p:nvPr/>
        </p:nvSpPr>
        <p:spPr>
          <a:xfrm>
            <a:off x="781050" y="3622862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40" name="Picture 39" descr="icon_calendar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50" y="3702862"/>
            <a:ext cx="300000" cy="300000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1341050" y="3702862"/>
            <a:ext cx="155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RENT-TO-OWN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3143250" y="3670825"/>
            <a:ext cx="24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40">
                <a:solidFill>
                  <a:srgbClr val="111111"/>
                </a:solidFill>
                <a:latin typeface="Calibri"/>
              </a:rPr>
              <a:t>LOW UPFRONT CASH</a:t>
            </a:r>
          </a:p>
        </p:txBody>
      </p:sp>
      <p:sp xmlns:a="http://schemas.openxmlformats.org/drawingml/2006/main">
        <p:nvSpPr>
          <p:cNvPr id="43" name="Rounded Rectangle 42"/>
          <p:cNvSpPr/>
          <p:nvPr/>
        </p:nvSpPr>
        <p:spPr>
          <a:xfrm>
            <a:off x="3143250" y="3814862"/>
            <a:ext cx="2470000" cy="156000"/>
          </a:xfrm>
          <a:prstGeom prst="roundRect">
            <a:avLst>
              <a:gd name="adj" fmla="val 50000"/>
            </a:avLst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ounded Rectangle 43"/>
          <p:cNvSpPr/>
          <p:nvPr/>
        </p:nvSpPr>
        <p:spPr>
          <a:xfrm>
            <a:off x="3143250" y="3814862"/>
            <a:ext cx="790400" cy="156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5695950" y="3712862"/>
            <a:ext cx="24003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Fixed monthly payment; you own it later.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8286750" y="3712862"/>
            <a:ext cx="26670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495A"/>
                </a:solidFill>
                <a:latin typeface="Calibri"/>
              </a:rPr>
              <a:t>Best for eventual ownership</a:t>
            </a:r>
          </a:p>
        </p:txBody>
      </p:sp>
      <p:sp xmlns:a="http://schemas.openxmlformats.org/drawingml/2006/main">
        <p:nvSpPr>
          <p:cNvPr id="47" name="Rounded Rectangle 46"/>
          <p:cNvSpPr/>
          <p:nvPr/>
        </p:nvSpPr>
        <p:spPr>
          <a:xfrm>
            <a:off x="571500" y="4305300"/>
            <a:ext cx="10668000" cy="600075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ounded Rectangle 47"/>
          <p:cNvSpPr/>
          <p:nvPr/>
        </p:nvSpPr>
        <p:spPr>
          <a:xfrm>
            <a:off x="781050" y="4375337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49" name="Picture 48" descr="icon_ban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50" y="4455337"/>
            <a:ext cx="300000" cy="300000"/>
          </a:xfrm>
          <a:prstGeom prst="rect">
            <a:avLst/>
          </a:prstGeom>
        </p:spPr>
      </p:pic>
      <p:sp xmlns:a="http://schemas.openxmlformats.org/drawingml/2006/main">
        <p:nvSpPr>
          <p:cNvPr id="50" name="TextBox 49"/>
          <p:cNvSpPr txBox="1"/>
          <p:nvPr/>
        </p:nvSpPr>
        <p:spPr>
          <a:xfrm>
            <a:off x="1341050" y="4455337"/>
            <a:ext cx="155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BANK / ASSET FINANCE</a:t>
            </a:r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3143250" y="4423300"/>
            <a:ext cx="24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40">
                <a:solidFill>
                  <a:srgbClr val="111111"/>
                </a:solidFill>
                <a:latin typeface="Calibri"/>
              </a:rPr>
              <a:t>PARTIAL UPFRONT CASH</a:t>
            </a:r>
          </a:p>
        </p:txBody>
      </p:sp>
      <p:sp xmlns:a="http://schemas.openxmlformats.org/drawingml/2006/main">
        <p:nvSpPr>
          <p:cNvPr id="52" name="Rounded Rectangle 51"/>
          <p:cNvSpPr/>
          <p:nvPr/>
        </p:nvSpPr>
        <p:spPr>
          <a:xfrm>
            <a:off x="3143250" y="4567337"/>
            <a:ext cx="2470000" cy="156000"/>
          </a:xfrm>
          <a:prstGeom prst="roundRect">
            <a:avLst>
              <a:gd name="adj" fmla="val 50000"/>
            </a:avLst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Rounded Rectangle 52"/>
          <p:cNvSpPr/>
          <p:nvPr/>
        </p:nvSpPr>
        <p:spPr>
          <a:xfrm>
            <a:off x="3143250" y="4567337"/>
            <a:ext cx="494000" cy="156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TextBox 53"/>
          <p:cNvSpPr txBox="1"/>
          <p:nvPr/>
        </p:nvSpPr>
        <p:spPr>
          <a:xfrm>
            <a:off x="5695950" y="4465337"/>
            <a:ext cx="24003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Financed through your bank or a funder.</a:t>
            </a:r>
          </a:p>
        </p:txBody>
      </p:sp>
      <p:sp xmlns:a="http://schemas.openxmlformats.org/drawingml/2006/main">
        <p:nvSpPr>
          <p:cNvPr id="55" name="TextBox 54"/>
          <p:cNvSpPr txBox="1"/>
          <p:nvPr/>
        </p:nvSpPr>
        <p:spPr>
          <a:xfrm>
            <a:off x="8286750" y="4465337"/>
            <a:ext cx="26670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495A"/>
                </a:solidFill>
                <a:latin typeface="Calibri"/>
              </a:rPr>
              <a:t>Best for banking relationships</a:t>
            </a:r>
          </a:p>
        </p:txBody>
      </p:sp>
      <p:sp xmlns:a="http://schemas.openxmlformats.org/drawingml/2006/main">
        <p:nvSpPr>
          <p:cNvPr id="56" name="Rounded Rectangle 55"/>
          <p:cNvSpPr/>
          <p:nvPr/>
        </p:nvSpPr>
        <p:spPr>
          <a:xfrm>
            <a:off x="571500" y="5057775"/>
            <a:ext cx="10668000" cy="600075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Rounded Rectangle 56"/>
          <p:cNvSpPr/>
          <p:nvPr/>
        </p:nvSpPr>
        <p:spPr>
          <a:xfrm>
            <a:off x="781050" y="5127812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58" name="Picture 57" descr="icon_build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50" y="5207812"/>
            <a:ext cx="300000" cy="300000"/>
          </a:xfrm>
          <a:prstGeom prst="rect">
            <a:avLst/>
          </a:prstGeom>
        </p:spPr>
      </p:pic>
      <p:sp xmlns:a="http://schemas.openxmlformats.org/drawingml/2006/main">
        <p:nvSpPr>
          <p:cNvPr id="59" name="TextBox 58"/>
          <p:cNvSpPr txBox="1"/>
          <p:nvPr/>
        </p:nvSpPr>
        <p:spPr>
          <a:xfrm>
            <a:off x="1341050" y="5207812"/>
            <a:ext cx="155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OUTRIGHT PURCHASE</a:t>
            </a:r>
          </a:p>
        </p:txBody>
      </p:sp>
      <p:sp xmlns:a="http://schemas.openxmlformats.org/drawingml/2006/main">
        <p:nvSpPr>
          <p:cNvPr id="60" name="TextBox 59"/>
          <p:cNvSpPr txBox="1"/>
          <p:nvPr/>
        </p:nvSpPr>
        <p:spPr>
          <a:xfrm>
            <a:off x="3143250" y="5175775"/>
            <a:ext cx="24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40">
                <a:solidFill>
                  <a:srgbClr val="111111"/>
                </a:solidFill>
                <a:latin typeface="Calibri"/>
              </a:rPr>
              <a:t>FULL UPFRONT CASH</a:t>
            </a:r>
          </a:p>
        </p:txBody>
      </p:sp>
      <p:sp xmlns:a="http://schemas.openxmlformats.org/drawingml/2006/main">
        <p:nvSpPr>
          <p:cNvPr id="61" name="Rounded Rectangle 60"/>
          <p:cNvSpPr/>
          <p:nvPr/>
        </p:nvSpPr>
        <p:spPr>
          <a:xfrm>
            <a:off x="3143250" y="5319812"/>
            <a:ext cx="2470000" cy="156000"/>
          </a:xfrm>
          <a:prstGeom prst="roundRect">
            <a:avLst>
              <a:gd name="adj" fmla="val 50000"/>
            </a:avLst>
          </a:prstGeom>
          <a:solidFill>
            <a:srgbClr val="D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2" name="Rounded Rectangle 61"/>
          <p:cNvSpPr/>
          <p:nvPr/>
        </p:nvSpPr>
        <p:spPr>
          <a:xfrm>
            <a:off x="3143250" y="5319812"/>
            <a:ext cx="2470000" cy="156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3" name="TextBox 62"/>
          <p:cNvSpPr txBox="1"/>
          <p:nvPr/>
        </p:nvSpPr>
        <p:spPr>
          <a:xfrm>
            <a:off x="5695950" y="5217812"/>
            <a:ext cx="24003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Own the asset outright from day one.</a:t>
            </a:r>
          </a:p>
        </p:txBody>
      </p:sp>
      <p:sp xmlns:a="http://schemas.openxmlformats.org/drawingml/2006/main">
        <p:nvSpPr>
          <p:cNvPr id="64" name="TextBox 63"/>
          <p:cNvSpPr txBox="1"/>
          <p:nvPr/>
        </p:nvSpPr>
        <p:spPr>
          <a:xfrm>
            <a:off x="8286750" y="5217812"/>
            <a:ext cx="2667000" cy="280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495A"/>
                </a:solidFill>
                <a:latin typeface="Calibri"/>
              </a:rPr>
              <a:t>Best for long-term value</a:t>
            </a:r>
          </a:p>
        </p:txBody>
      </p:sp>
      <p:sp xmlns:a="http://schemas.openxmlformats.org/drawingml/2006/main">
        <p:nvSpPr>
          <p:cNvPr id="65" name="TextBox 64"/>
          <p:cNvSpPr txBox="1"/>
          <p:nvPr/>
        </p:nvSpPr>
        <p:spPr>
          <a:xfrm>
            <a:off x="1047750" y="5753100"/>
            <a:ext cx="100965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2676B"/>
                </a:solidFill>
                <a:latin typeface="Calibri"/>
              </a:rPr>
              <a:t>Bank and asset-finance terms vary by provider, credit profile and project. Chariot compares the complete commercial outcome.</a:t>
            </a:r>
          </a:p>
        </p:txBody>
      </p:sp>
      <p:sp xmlns:a="http://schemas.openxmlformats.org/drawingml/2006/main">
        <p:nvSpPr>
          <p:cNvPr id="66" name="TextBox 65"/>
          <p:cNvSpPr txBox="1"/>
          <p:nvPr/>
        </p:nvSpPr>
        <p:spPr>
          <a:xfrm>
            <a:off x="571500" y="65151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50">
                <a:solidFill>
                  <a:srgbClr val="62676B"/>
                </a:solidFill>
                <a:latin typeface="Calibri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1781944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656d04fad4f98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571500" y="266700"/>
            <a:ext cx="495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00A9D6"/>
                </a:solidFill>
                <a:latin typeface="Calibri"/>
              </a:rPr>
              <a:t>YOUR FIRST DECISION TOOL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71500" y="742950"/>
            <a:ext cx="8763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0">
                <a:solidFill>
                  <a:srgbClr val="00A9D6"/>
                </a:solidFill>
                <a:latin typeface="Times New Roman"/>
              </a:rPr>
              <a:t>START WITH FACTS.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571500" y="1104900"/>
            <a:ext cx="876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111111"/>
                </a:solidFill>
                <a:latin typeface="Times New Roman"/>
              </a:rPr>
              <a:t>NOT A GENERIC SOLAR QUOTE.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571500" y="1924050"/>
            <a:ext cx="7905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2676B"/>
                </a:solidFill>
                <a:latin typeface="Calibri"/>
              </a:rPr>
              <a:t>We use your real energy data to show which route deserves deeper work.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571500" y="270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571500" y="270000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571500" y="3045720"/>
            <a:ext cx="181051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YOUR BILL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Picture 37" descr="framed_ste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11189"/>
            <a:ext cx="1810512" cy="1167807"/>
          </a:xfrm>
          <a:prstGeom prst="rect">
            <a:avLst/>
          </a:prstGeom>
        </p:spPr>
      </p:pic>
      <p:sp xmlns:a="http://schemas.openxmlformats.org/drawingml/2006/main">
        <p:nvSpPr>
          <p:cNvPr id="39" name="TextBox 38"/>
          <p:cNvSpPr txBox="1"/>
          <p:nvPr/>
        </p:nvSpPr>
        <p:spPr>
          <a:xfrm>
            <a:off x="571500" y="4924716"/>
            <a:ext cx="1810512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62676B"/>
                </a:solidFill>
                <a:latin typeface="Calibri"/>
              </a:rPr>
              <a:t>Cost, tariff and usage</a:t>
            </a:r>
          </a:p>
        </p:txBody>
      </p:sp>
      <p:sp xmlns:a="http://schemas.openxmlformats.org/drawingml/2006/main">
        <p:nvSpPr>
          <p:cNvPr id="40" name="Rounded Rectangle 39"/>
          <p:cNvSpPr/>
          <p:nvPr/>
        </p:nvSpPr>
        <p:spPr>
          <a:xfrm>
            <a:off x="2534412" y="270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2534412" y="270000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2534412" y="3045720"/>
            <a:ext cx="181051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YOUR LOAD</a:t>
            </a:r>
          </a:p>
        </p:txBody>
      </p:sp>
      <p:pic xmlns:a="http://schemas.openxmlformats.org/drawingml/2006/main" xmlns:r="http://schemas.openxmlformats.org/officeDocument/2006/relationships">
        <p:nvPicPr>
          <p:cNvPr id="43" name="Picture 42" descr="framed_ste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412" y="3711189"/>
            <a:ext cx="1810512" cy="1167807"/>
          </a:xfrm>
          <a:prstGeom prst="rect">
            <a:avLst/>
          </a:prstGeom>
        </p:spPr>
      </p:pic>
      <p:sp xmlns:a="http://schemas.openxmlformats.org/drawingml/2006/main">
        <p:nvSpPr>
          <p:cNvPr id="44" name="TextBox 43"/>
          <p:cNvSpPr txBox="1"/>
          <p:nvPr/>
        </p:nvSpPr>
        <p:spPr>
          <a:xfrm>
            <a:off x="2534412" y="4924716"/>
            <a:ext cx="1810512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62676B"/>
                </a:solidFill>
                <a:latin typeface="Calibri"/>
              </a:rPr>
              <a:t>Daytime and critical demand</a:t>
            </a:r>
          </a:p>
        </p:txBody>
      </p:sp>
      <p:sp xmlns:a="http://schemas.openxmlformats.org/drawingml/2006/main">
        <p:nvSpPr>
          <p:cNvPr id="45" name="Rounded Rectangle 44"/>
          <p:cNvSpPr/>
          <p:nvPr/>
        </p:nvSpPr>
        <p:spPr>
          <a:xfrm>
            <a:off x="4497324" y="270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4497324" y="270000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4497324" y="3045720"/>
            <a:ext cx="201168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YOUR SITE</a:t>
            </a:r>
          </a:p>
        </p:txBody>
      </p:sp>
      <p:pic xmlns:a="http://schemas.openxmlformats.org/drawingml/2006/main" xmlns:r="http://schemas.openxmlformats.org/officeDocument/2006/relationships">
        <p:nvPicPr>
          <p:cNvPr id="48" name="Picture 47" descr="framed_ste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324" y="3581433"/>
            <a:ext cx="2011680" cy="1297563"/>
          </a:xfrm>
          <a:prstGeom prst="rect">
            <a:avLst/>
          </a:prstGeom>
        </p:spPr>
      </p:pic>
      <p:sp xmlns:a="http://schemas.openxmlformats.org/drawingml/2006/main">
        <p:nvSpPr>
          <p:cNvPr id="49" name="TextBox 48"/>
          <p:cNvSpPr txBox="1"/>
          <p:nvPr/>
        </p:nvSpPr>
        <p:spPr>
          <a:xfrm>
            <a:off x="4497324" y="4924716"/>
            <a:ext cx="20116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62676B"/>
                </a:solidFill>
                <a:latin typeface="Calibri"/>
              </a:rPr>
              <a:t>Roof, land and grid reality</a:t>
            </a:r>
          </a:p>
        </p:txBody>
      </p:sp>
      <p:sp xmlns:a="http://schemas.openxmlformats.org/drawingml/2006/main">
        <p:nvSpPr>
          <p:cNvPr id="50" name="Rounded Rectangle 49"/>
          <p:cNvSpPr/>
          <p:nvPr/>
        </p:nvSpPr>
        <p:spPr>
          <a:xfrm>
            <a:off x="6661404" y="270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6661404" y="270000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6661404" y="3045720"/>
            <a:ext cx="201168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YOUR OPTIONS</a:t>
            </a:r>
          </a:p>
        </p:txBody>
      </p:sp>
      <p:pic xmlns:a="http://schemas.openxmlformats.org/drawingml/2006/main" xmlns:r="http://schemas.openxmlformats.org/officeDocument/2006/relationships">
        <p:nvPicPr>
          <p:cNvPr id="53" name="Picture 52" descr="framed_ste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404" y="3581433"/>
            <a:ext cx="2011680" cy="1297563"/>
          </a:xfrm>
          <a:prstGeom prst="rect">
            <a:avLst/>
          </a:prstGeom>
        </p:spPr>
      </p:pic>
      <p:sp xmlns:a="http://schemas.openxmlformats.org/drawingml/2006/main">
        <p:nvSpPr>
          <p:cNvPr id="54" name="TextBox 53"/>
          <p:cNvSpPr txBox="1"/>
          <p:nvPr/>
        </p:nvSpPr>
        <p:spPr>
          <a:xfrm>
            <a:off x="6661404" y="4924716"/>
            <a:ext cx="201168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62676B"/>
                </a:solidFill>
                <a:latin typeface="Calibri"/>
              </a:rPr>
              <a:t>System and funding routes</a:t>
            </a:r>
          </a:p>
        </p:txBody>
      </p:sp>
      <p:sp xmlns:a="http://schemas.openxmlformats.org/drawingml/2006/main">
        <p:nvSpPr>
          <p:cNvPr id="55" name="Rounded Rectangle 54"/>
          <p:cNvSpPr/>
          <p:nvPr/>
        </p:nvSpPr>
        <p:spPr>
          <a:xfrm>
            <a:off x="8825484" y="270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00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TextBox 55"/>
          <p:cNvSpPr txBox="1"/>
          <p:nvPr/>
        </p:nvSpPr>
        <p:spPr>
          <a:xfrm>
            <a:off x="8825484" y="2700000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 xmlns:a="http://schemas.openxmlformats.org/drawingml/2006/main">
        <p:nvSpPr>
          <p:cNvPr id="57" name="TextBox 56"/>
          <p:cNvSpPr txBox="1"/>
          <p:nvPr/>
        </p:nvSpPr>
        <p:spPr>
          <a:xfrm>
            <a:off x="8825484" y="3045720"/>
            <a:ext cx="2414016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11111"/>
                </a:solidFill>
                <a:latin typeface="Times New Roman"/>
              </a:rPr>
              <a:t>YOUR DECISION</a:t>
            </a:r>
          </a:p>
        </p:txBody>
      </p:sp>
      <p:pic xmlns:a="http://schemas.openxmlformats.org/drawingml/2006/main" xmlns:r="http://schemas.openxmlformats.org/officeDocument/2006/relationships">
        <p:nvPicPr>
          <p:cNvPr id="58" name="Picture 57" descr="framed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5484" y="3321920"/>
            <a:ext cx="2414016" cy="1557076"/>
          </a:xfrm>
          <a:prstGeom prst="rect">
            <a:avLst/>
          </a:prstGeom>
        </p:spPr>
      </p:pic>
      <p:sp xmlns:a="http://schemas.openxmlformats.org/drawingml/2006/main">
        <p:nvSpPr>
          <p:cNvPr id="59" name="TextBox 58"/>
          <p:cNvSpPr txBox="1"/>
          <p:nvPr/>
        </p:nvSpPr>
        <p:spPr>
          <a:xfrm>
            <a:off x="8825484" y="4924716"/>
            <a:ext cx="2414016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62676B"/>
                </a:solidFill>
                <a:latin typeface="Calibri"/>
              </a:rPr>
              <a:t>Proceed, refine or stop</a:t>
            </a:r>
          </a:p>
        </p:txBody>
      </p:sp>
      <p:sp xmlns:a="http://schemas.openxmlformats.org/drawingml/2006/main">
        <p:nvSpPr>
          <p:cNvPr id="60" name="Rounded Rectangle 59"/>
          <p:cNvSpPr/>
          <p:nvPr/>
        </p:nvSpPr>
        <p:spPr>
          <a:xfrm>
            <a:off x="571500" y="5267325"/>
            <a:ext cx="10668000" cy="46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D8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1" name="TextBox 60"/>
          <p:cNvSpPr txBox="1"/>
          <p:nvPr/>
        </p:nvSpPr>
        <p:spPr>
          <a:xfrm>
            <a:off x="857250" y="5395275"/>
            <a:ext cx="10096500" cy="238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495A"/>
                </a:solidFill>
                <a:latin typeface="Calibri"/>
              </a:rPr>
              <a:t>YOUR ENERGY SNAPSHOT: A CLEAR FIRST VIEW—NOT A SALES ESTIMATE.</a:t>
            </a:r>
          </a:p>
        </p:txBody>
      </p:sp>
      <p:sp xmlns:a="http://schemas.openxmlformats.org/drawingml/2006/main">
        <p:nvSpPr>
          <p:cNvPr id="62" name="Rounded Rectangle 61">
            <a:hlinkClick xmlns:ns0="http://schemas.openxmlformats.org/officeDocument/2006/relationships" ns0:id="rId9"/>
          </p:cNvPr>
          <p:cNvSpPr/>
          <p:nvPr/>
        </p:nvSpPr>
        <p:spPr>
          <a:xfrm>
            <a:off x="571500" y="5800725"/>
            <a:ext cx="10668000" cy="40005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3" name="TextBox 62">
            <a:hlinkClick xmlns:ns1="http://schemas.openxmlformats.org/officeDocument/2006/relationships" ns1:id="rId9"/>
          </p:cNvPr>
          <p:cNvSpPr txBox="1"/>
          <p:nvPr/>
        </p:nvSpPr>
        <p:spPr>
          <a:xfrm>
            <a:off x="571500" y="5800725"/>
            <a:ext cx="106680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u="none">
                <a:solidFill>
                  <a:srgbClr val="FFFFFF"/>
                </a:solidFill>
                <a:latin typeface="Times New Roman"/>
              </a:rPr>
              <a:t>OPEN YOUR ENERGY SNAPSHOT  →</a:t>
            </a:r>
          </a:p>
        </p:txBody>
      </p:sp>
      <p:sp xmlns:a="http://schemas.openxmlformats.org/drawingml/2006/main">
        <p:nvSpPr>
          <p:cNvPr id="64" name="TextBox 63"/>
          <p:cNvSpPr txBox="1"/>
          <p:nvPr/>
        </p:nvSpPr>
        <p:spPr>
          <a:xfrm>
            <a:off x="571500" y="65151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50">
                <a:solidFill>
                  <a:srgbClr val="62676B"/>
                </a:solidFill>
                <a:latin typeface="Calibri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704983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6228B-4744-4EB2-B617-1C45268B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FROM FIRST VISIT TO LONG-TERM SUPPORT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f48f985ee4259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EDE8F-CB71-4D32-8338-77F861C4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FROM YOUR ELECTRICITY BILL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524A4-9DFA-4BD1-A393-F5A6F69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 AN OPERATING ASSET.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032FD-D118-4B83-B6B4-60D76A85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Chariot coordinates the commercial, technical and delivery journey.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82214c3cc472c"/>
          <a:srcRect xmlns:a="http://schemas.openxmlformats.org/drawingml/2006/main" l="0" t="24125" r="0" b="2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990600"/>
            <a:ext cx="438150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9AA98-99A5-4683-B981-F39B86E1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EC32-ECDF-437B-B182-B36392E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597B6-E1BF-4385-B195-02479267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Bills, site and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7709D-CDA1-4D3A-AD88-548B1BA4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B1FE9-028C-44B5-BE50-A634FB9A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E4179-053A-4F21-82A6-47B527C0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Solar, storage and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773E6-5524-4F01-BE3A-1081F49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24971-F0AF-4A1E-AE53-580573E6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F54BB-EA76-4D86-A47E-EF57DBFD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Commercial and funding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A6B45-9EA3-4059-BA45-08693C35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38029-06E3-4313-8E38-3F28AB3C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DELIVER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76749-7F35-4CD4-8A2D-640DB26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Procure, install and commission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F2070-58F3-4571-AB75-9215C237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D3994-AC7C-4A21-B4C2-023852B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AE088-C24E-43A0-A489-D089C202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Monitor, maintain and optimise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34B80-8F9A-4CFD-B3D4-4F88F51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rPr>
              <a:t>You keep one clear point of accountability while specialist partners perform defined project roles.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A0F88-7B57-4DD4-B27D-83180D2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236507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04E1C-15BA-4293-AEBA-70ED725B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BANKABLE TECHNOLOGY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3470192084c97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49EB0-3EF3-4A4E-B298-660D6B7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SELECTED FOR YOUR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0E98-5BFE-41D7-9376-DE27AA4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SUPPORTED FOR THE LONG TERM.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FEE49-5443-41C7-A3F7-9F320DD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Technology is chosen for performance, warranty, serviceability and project bankability.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47ed27e724d3d"/>
          <a:stretch xmlns:a="http://schemas.openxmlformats.org/drawingml/2006/main"/>
        </p:blipFill>
        <p:spPr>
          <a:xfrm xmlns:a="http://schemas.openxmlformats.org/drawingml/2006/main">
            <a:off x="813781" y="2762250"/>
            <a:ext cx="2658687" cy="1809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c0865826849f2"/>
          <a:stretch xmlns:a="http://schemas.openxmlformats.org/drawingml/2006/main"/>
        </p:blipFill>
        <p:spPr>
          <a:xfrm xmlns:a="http://schemas.openxmlformats.org/drawingml/2006/main">
            <a:off x="4835728" y="2762250"/>
            <a:ext cx="2520543" cy="1809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3ca0c93504438"/>
          <a:srcRect xmlns:a="http://schemas.openxmlformats.org/drawingml/2006/main" l="16106" t="0" r="161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762250"/>
            <a:ext cx="3143250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3C50B-C896-4F5C-8A1E-49237C5E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MODULAR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04A15-9E08-4079-854C-26C9A50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SERVICEABLE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084B7-43DB-4BCF-AFD3-27019BA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SCALABLE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DB98C-936D-4819-A62D-850B4BD2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38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Open architecture allows the design to follow the project—not a preferred product catalogue.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87968-6373-4F62-B5A1-49D1DF9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300477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D2DBE-74AE-44AC-8AAD-325EF2B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EXPERIENCE THAT TRANSLATES INTO DELIVERY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7a56fdca44aa2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C73BE-C210-4611-B810-2D125AB3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REAL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9E1A8-C41C-4485-9107-4B20371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REAL ENERGY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FE79-B017-463D-A68D-CEA3277D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Selected experience across Chariot, its team and delivery network.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4c779babf4981"/>
          <a:srcRect xmlns:a="http://schemas.openxmlformats.org/drawingml/2006/main" l="0" t="16624" r="0" b="16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762250"/>
            <a:ext cx="24765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4BB5B-2C79-4C29-8624-49AF15C7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3.5 MW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1577-8DFE-4644-8E4F-2454270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Industrial foundry • South Africa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7fb38f6b344df"/>
          <a:srcRect xmlns:a="http://schemas.openxmlformats.org/drawingml/2006/main" l="23713" t="0" r="237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762250"/>
            <a:ext cx="247650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47334-DC8C-4A4B-8FEF-EE7B1E9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 MW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ACF27-4F0E-44C5-B14D-9D29F74E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57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Remote hospitality • Angola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fb79de0d94433"/>
          <a:srcRect xmlns:a="http://schemas.openxmlformats.org/drawingml/2006/main" l="13395" t="0" r="13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762250"/>
            <a:ext cx="24765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E0B79-0EB6-49D8-8B3B-58A68154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1.2 MW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37DAE-BFE0-44E5-9B0B-1A0F31D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Commercial mill • South Africa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e64ade0214c97"/>
          <a:srcRect xmlns:a="http://schemas.openxmlformats.org/drawingml/2006/main" l="15029" t="0" r="150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2762250"/>
            <a:ext cx="247650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CFC8F-93D1-4E01-A251-A08FCCF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750 kW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5630D-4285-4C41-A0EA-32AAF77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57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Industrial steel mill • Tanzania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4081F-C090-4905-9EC1-53AFB3A5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78429-A3A2-4EBA-9261-8F16EB8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250+ MW REPORTED COMBINED EXPERIENCE ACROSS THE TEAM AND DELIVERY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252B8-B203-48BE-9796-6D6984CA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605224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9ED56-5629-4E69-A436-FA629CB4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CHARIOT ENERGY SNAPSHOT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3ee4f0ee74027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1AAB1-E57B-407D-9597-BABAB1C1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SEE THE TRUE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7D8E6-07BD-48CD-8000-90CE5B3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EVERY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445BE-AEC6-49AE-8607-0F0B2A4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One comparison using your bill, your tariff, your site and the finance quotes available to you.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71500" y="2781300"/>
          <a:ext xmlns:a="http://schemas.openxmlformats.org/drawingml/2006/main" cx="700087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372365f3bc4c7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C8277-3467-40AE-802D-2D40E73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735AD-342F-4728-9223-691F87D7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Grid-only • cash • bank loan • asset finance • rent-to-own • PPA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95194-B8D7-4CD3-AB71-12275CD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61813-1274-4AE3-B85C-1F6E06AF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Upfront cash • monthly payment • escalation • cumulative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196C5-FD3A-47AD-B572-C28726B8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EA8E-44A4-4B11-98D4-34F79E5C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Savings • ownership • payback • resilience • next-best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6B3F6-0DC3-4FEB-AC69-D09C3A41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ILLUSTRATIVE OUTPUT — NOT A QUOTE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DEA8-8550-42FB-9728-D7B406DA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95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The live Snapshot recalculates from client inputs and verified quotes.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4EB99-EB5A-4BA8-B4CC-788B9C77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1701305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3f7f67ecd48f8"/>
          <a:stretch xmlns:a="http://schemas.openxmlformats.org/drawingml/2006/main"/>
        </p:blipFill>
        <p:spPr>
          <a:xfrm xmlns:a="http://schemas.openxmlformats.org/drawingml/2006/main">
            <a:off x="10338385" y="152400"/>
            <a:ext cx="944980" cy="5524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22" name="TextBox 21"/>
          <p:cNvSpPr txBox="1"/>
          <p:nvPr/>
        </p:nvSpPr>
        <p:spPr>
          <a:xfrm>
            <a:off x="571500" y="266700"/>
            <a:ext cx="495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00A9D6"/>
                </a:solidFill>
                <a:latin typeface="Calibri"/>
              </a:rPr>
              <a:t>WHY CHARIOT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571500" y="742950"/>
            <a:ext cx="8763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0">
                <a:solidFill>
                  <a:srgbClr val="00A9D6"/>
                </a:solidFill>
                <a:latin typeface="Times New Roman"/>
              </a:rPr>
              <a:t>BIG ENOUGH TO STRUCTURE IT.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571500" y="1104900"/>
            <a:ext cx="8763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111111"/>
                </a:solidFill>
                <a:latin typeface="Times New Roman"/>
              </a:rPr>
              <a:t>CLOSE ENOUGH TO SHOW UP.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571500" y="1924050"/>
            <a:ext cx="7905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2676B"/>
                </a:solidFill>
                <a:latin typeface="Calibri"/>
              </a:rPr>
              <a:t>A relationship-led South African team supported by aligned technical and funding partners.</a:t>
            </a:r>
          </a:p>
        </p:txBody>
      </p:sp>
      <p:sp xmlns:a="http://schemas.openxmlformats.org/drawingml/2006/main">
        <p:nvSpPr>
          <p:cNvPr id="26" name="Rounded Rectangle 25"/>
          <p:cNvSpPr/>
          <p:nvPr/>
        </p:nvSpPr>
        <p:spPr>
          <a:xfrm>
            <a:off x="571500" y="28575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27" name="Picture 26" descr="icon_ch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00" y="2947500"/>
            <a:ext cx="280000" cy="280000"/>
          </a:xfrm>
          <a:prstGeom prst="rect">
            <a:avLst/>
          </a:prstGeom>
        </p:spPr>
      </p:pic>
      <p:sp xmlns:a="http://schemas.openxmlformats.org/drawingml/2006/main">
        <p:nvSpPr>
          <p:cNvPr id="28" name="TextBox 27"/>
          <p:cNvSpPr txBox="1"/>
          <p:nvPr/>
        </p:nvSpPr>
        <p:spPr>
          <a:xfrm>
            <a:off x="1162050" y="2857500"/>
            <a:ext cx="580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111"/>
                </a:solidFill>
                <a:latin typeface="Times New Roman"/>
              </a:rPr>
              <a:t>WE LISTEN FIRST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1162050" y="3181350"/>
            <a:ext cx="58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The solution begins with your operation.</a:t>
            </a:r>
          </a:p>
        </p:txBody>
      </p:sp>
      <p:sp xmlns:a="http://schemas.openxmlformats.org/drawingml/2006/main">
        <p:nvSpPr>
          <p:cNvPr id="30" name="Rounded Rectangle 29"/>
          <p:cNvSpPr/>
          <p:nvPr/>
        </p:nvSpPr>
        <p:spPr>
          <a:xfrm>
            <a:off x="571500" y="35675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1" name="Picture 30" descr="icon_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00" y="3657500"/>
            <a:ext cx="280000" cy="280000"/>
          </a:xfrm>
          <a:prstGeom prst="rect">
            <a:avLst/>
          </a:prstGeom>
        </p:spPr>
      </p:pic>
      <p:sp xmlns:a="http://schemas.openxmlformats.org/drawingml/2006/main">
        <p:nvSpPr>
          <p:cNvPr id="32" name="TextBox 31"/>
          <p:cNvSpPr txBox="1"/>
          <p:nvPr/>
        </p:nvSpPr>
        <p:spPr>
          <a:xfrm>
            <a:off x="1162050" y="3567500"/>
            <a:ext cx="580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111"/>
                </a:solidFill>
                <a:latin typeface="Times New Roman"/>
              </a:rPr>
              <a:t>WE SHOW THE OPTIONS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1162050" y="3891350"/>
            <a:ext cx="58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Compare funding and ownership clearly.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571500" y="42775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5" name="Picture 34" descr="icon_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00" y="4367500"/>
            <a:ext cx="280000" cy="280000"/>
          </a:xfrm>
          <a:prstGeom prst="rect">
            <a:avLst/>
          </a:prstGeom>
        </p:spPr>
      </p:pic>
      <p:sp xmlns:a="http://schemas.openxmlformats.org/drawingml/2006/main">
        <p:nvSpPr>
          <p:cNvPr id="36" name="TextBox 35"/>
          <p:cNvSpPr txBox="1"/>
          <p:nvPr/>
        </p:nvSpPr>
        <p:spPr>
          <a:xfrm>
            <a:off x="1162050" y="4277500"/>
            <a:ext cx="580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111"/>
                </a:solidFill>
                <a:latin typeface="Times New Roman"/>
              </a:rPr>
              <a:t>WE STAY ACCOUNTABLE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1162050" y="4601350"/>
            <a:ext cx="58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One route through design and delivery.</a:t>
            </a:r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571500" y="49875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00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39" name="Picture 38" descr="icon_trending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00" y="5077500"/>
            <a:ext cx="280000" cy="280000"/>
          </a:xfrm>
          <a:prstGeom prst="rect">
            <a:avLst/>
          </a:prstGeom>
        </p:spPr>
      </p:pic>
      <p:sp xmlns:a="http://schemas.openxmlformats.org/drawingml/2006/main">
        <p:nvSpPr>
          <p:cNvPr id="40" name="TextBox 39"/>
          <p:cNvSpPr txBox="1"/>
          <p:nvPr/>
        </p:nvSpPr>
        <p:spPr>
          <a:xfrm>
            <a:off x="1162050" y="4987500"/>
            <a:ext cx="580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11111"/>
                </a:solidFill>
                <a:latin typeface="Times New Roman"/>
              </a:rPr>
              <a:t>WE THINK LONG TERM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1162050" y="5311350"/>
            <a:ext cx="580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2676B"/>
                </a:solidFill>
                <a:latin typeface="Calibri"/>
              </a:rPr>
              <a:t>Support continues after commissioning.</a:t>
            </a:r>
          </a:p>
        </p:txBody>
      </p:sp>
      <p:pic xmlns:a="http://schemas.openxmlformats.org/drawingml/2006/main" xmlns:r="http://schemas.openxmlformats.org/officeDocument/2006/relationships">
        <p:nvPicPr>
          <p:cNvPr id="42" name="Picture 41" descr="portrait_james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000" y="2857500"/>
            <a:ext cx="1869750" cy="18697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43" name="Picture 42" descr="portrait_taylor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9750" y="2857500"/>
            <a:ext cx="1869750" cy="1869750"/>
          </a:xfrm>
          <a:prstGeom prst="rect">
            <a:avLst/>
          </a:prstGeom>
        </p:spPr>
      </p:pic>
      <p:sp xmlns:a="http://schemas.openxmlformats.org/drawingml/2006/main">
        <p:nvSpPr>
          <p:cNvPr id="44" name="TextBox 43"/>
          <p:cNvSpPr txBox="1"/>
          <p:nvPr/>
        </p:nvSpPr>
        <p:spPr>
          <a:xfrm>
            <a:off x="7300000" y="4827550"/>
            <a:ext cx="186975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40">
                <a:solidFill>
                  <a:srgbClr val="111111"/>
                </a:solidFill>
                <a:latin typeface="Calibri"/>
              </a:rPr>
              <a:t>JAMES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9369750" y="4827550"/>
            <a:ext cx="186975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40">
                <a:solidFill>
                  <a:srgbClr val="111111"/>
                </a:solidFill>
                <a:latin typeface="Calibri"/>
              </a:rPr>
              <a:t>TAYLOR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7300000" y="5087550"/>
            <a:ext cx="39395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495A"/>
                </a:solidFill>
                <a:latin typeface="Times New Roman"/>
              </a:rPr>
              <a:t>14+</a:t>
            </a:r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7300000" y="5402550"/>
            <a:ext cx="3939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spc="40">
                <a:solidFill>
                  <a:srgbClr val="62676B"/>
                </a:solidFill>
                <a:latin typeface="Calibri"/>
              </a:rPr>
              <a:t>YEARS IN SOLAR, SINCE DAY ONE</a:t>
            </a:r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571500" y="5905500"/>
            <a:ext cx="10668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2676B"/>
                </a:solidFill>
                <a:latin typeface="Calibri"/>
              </a:rPr>
              <a:t>Founded by James &amp; Taylor Blasczyk • Powered by a South African team that shows up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571500" y="65151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50">
                <a:solidFill>
                  <a:srgbClr val="62676B"/>
                </a:solidFill>
                <a:latin typeface="Calibri"/>
              </a:rPr>
              <a:t>CAPITAL. TECHNOLOGY. EXECUTION.</a:t>
            </a:r>
          </a:p>
        </p:txBody>
      </p:sp>
    </p:spTree>
    <p:extLst>
      <p:ext uri="{BB962C8B-B14F-4D97-AF65-F5344CB8AC3E}">
        <p14:creationId xmlns:p14="http://schemas.microsoft.com/office/powerpoint/2010/main" val="531488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999a13c3040ce"/>
          <a:srcRect xmlns:a="http://schemas.openxmlformats.org/drawingml/2006/main" l="20064" t="0" r="20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0C4B7-6FCE-41A0-B01B-075AD24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16B71-9A9D-4273-B526-169C7FBB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500" y="330000"/>
            <a:ext cx="430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00A9D6"/>
                </a:solidFill>
                <a:latin typeface="Times New Roman"/>
                <a:ea typeface="Times New Roman"/>
                <a:cs typeface="Times New Roman"/>
              </a:rPr>
              <a:t>CHARIOT ENERGY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945A7-908F-468D-908A-9E87F56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BRING US YOUR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ELECTRICITY BILL.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WE’LL SHOW YOU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AC850-BBAD-45D5-BA53-5D8CFDED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Compare your real energy and finance options in one clear view.</a:t>
            </a:r>
          </a:p>
        </p:txBody>
      </p:sp>
      <p:sp>
        <p:nvSpPr>
          <p:cNvPr id="6" name="">
            <a:hlinkClick xmlns:a="http://schemas.openxmlformats.org/drawingml/2006/main" xmlns:ns0="http://schemas.openxmlformats.org/officeDocument/2006/relationships" ns0:id="rId5"/>
            <a:extLst xmlns:a="http://schemas.openxmlformats.org/drawingml/2006/main">
              <a:ext uri="{FF2B5EF4-FFF2-40B4-BE49-F238E27FC236}">
                <a16:creationId xmlns:a16="http://schemas.microsoft.com/office/drawing/2014/main" id="{7A9161AD-0631-42ED-8D90-FD75C54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hlinkClick xmlns:a="http://schemas.openxmlformats.org/drawingml/2006/main" xmlns:ns1="http://schemas.openxmlformats.org/officeDocument/2006/relationships" ns1:id="rId5"/>
            <a:extLst xmlns:a="http://schemas.openxmlformats.org/drawingml/2006/main">
              <a:ext uri="{FF2B5EF4-FFF2-40B4-BE49-F238E27FC236}">
                <a16:creationId xmlns:a16="http://schemas.microsoft.com/office/drawing/2014/main" id="{ED276DB0-AC18-419A-A2AD-1CC24F41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462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GET MY ENERGY SNAPSHOT</a:t>
            </a:r>
            <a:r>
              <a:rPr sz="135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F1D1E-3858-4454-B6B5-90362AC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00495A"/>
                </a:solidFill>
                <a:latin typeface="Times New Roman"/>
                <a:ea typeface="Times New Roman"/>
                <a:cs typeface="Times New Roman"/>
              </a:rPr>
              <a:t>+27 66 110 5578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47132-232E-440A-AB2B-0AB4B38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No obligation. Indicative assessment only. Final solutions remain subject to technical, commercial, credit, legal and funder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A0C8A-B1A0-44BC-9472-3F2C44F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2676B"/>
                </a:solidFill>
                <a:latin typeface="Times New Roman"/>
                <a:ea typeface="Times New Roman"/>
                <a:cs typeface="Times New Roman"/>
              </a:rPr>
              <a:t>CAPITAL. TECHNOLOGY. EXECUTION.</a:t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Picture 11" descr="chariot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6700"/>
            <a:ext cx="685860" cy="360045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3" name="Picture 12" descr="qr_snap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0000" y="4642009"/>
            <a:ext cx="679132" cy="679132"/>
          </a:xfrm>
          <a:prstGeom prst="rect">
            <a:avLst/>
          </a:prstGeom>
        </p:spPr>
      </p:pic>
      <p:sp xmlns:a="http://schemas.openxmlformats.org/drawingml/2006/main">
        <p:nvSpPr>
          <p:cNvPr id="14" name="TextBox 13"/>
          <p:cNvSpPr txBox="1"/>
          <p:nvPr/>
        </p:nvSpPr>
        <p:spPr>
          <a:xfrm>
            <a:off x="5710000" y="5376141"/>
            <a:ext cx="759132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spc="40">
                <a:solidFill>
                  <a:srgbClr val="00495A"/>
                </a:solidFill>
                <a:latin typeface="Calibri"/>
              </a:rPr>
              <a:t>SCAN TO OPEN →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71500" y="5376141"/>
            <a:ext cx="504825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spc="40">
                <a:solidFill>
                  <a:srgbClr val="62676B"/>
                </a:solidFill>
                <a:latin typeface="Calibri"/>
              </a:rPr>
              <a:t>⏱ TAKES ABOUT 3 MINUTES</a:t>
            </a:r>
          </a:p>
        </p:txBody>
      </p:sp>
    </p:spTree>
    <p:extLst>
      <p:ext uri="{BB962C8B-B14F-4D97-AF65-F5344CB8AC3E}">
        <p14:creationId xmlns:p14="http://schemas.microsoft.com/office/powerpoint/2010/main" val="556053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2026-08-30T14:17:42.5220000Z</dcterms:created>
  <dcterms:modified xsi:type="dcterms:W3CDTF">2026-08-30T14:17:42.5220000Z</dcterms:modified>
</coreProperties>
</file>